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0" r:id="rId2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10" autoAdjust="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EB9160-16C0-41FE-81E1-9247F1098F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47CABB-BF47-4267-93BC-83D74480CC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899520-D4F3-4B34-AFE6-7C6E8D03CC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C665FB-F18B-4BD7-879E-7B311E6CE3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678E23-AED0-4143-A315-FE5E8A9EFE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89B488-7882-4D92-B731-D2084F0183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542AEB-4831-469E-8EB6-4F2D6D6D68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5EC3FE-9094-4BB5-976C-9E41B89006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57E78E-89C8-490F-968D-BBD07631A5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6BD8B6-817A-4A6F-AB30-6403EC419A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331920-A4B3-46AF-BE1B-9E72D2C664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-30240" y="-45720"/>
            <a:ext cx="12191400" cy="685764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9052560" y="0"/>
            <a:ext cx="3135960" cy="91404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Rectangle 3"/>
          <p:cNvSpPr/>
          <p:nvPr/>
        </p:nvSpPr>
        <p:spPr>
          <a:xfrm>
            <a:off x="9875520" y="914400"/>
            <a:ext cx="2313000" cy="91404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4"/>
          <p:cNvSpPr/>
          <p:nvPr/>
        </p:nvSpPr>
        <p:spPr>
          <a:xfrm>
            <a:off x="8503920" y="5989320"/>
            <a:ext cx="3657240" cy="86832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777240" y="1234440"/>
            <a:ext cx="804636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MIS Foreign Trade</a:t>
            </a:r>
            <a:br>
              <a:rPr sz="3700"/>
            </a:br>
            <a:r>
              <a:rPr lang="en-US" sz="3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Form Management &amp; Reporting System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804600" y="306324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D7E4F0"/>
                </a:solidFill>
                <a:effectLst/>
                <a:uFillTx/>
                <a:latin typeface="Calibri"/>
              </a:rPr>
              <a:t>Centralized digital workflow for branch data collection, target management and MIS reporting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Executive Overview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Why this system?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6"/>
          <p:cNvSpPr/>
          <p:nvPr/>
        </p:nvSpPr>
        <p:spPr>
          <a:xfrm>
            <a:off x="640080" y="1600200"/>
            <a:ext cx="347436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7"/>
          <p:cNvSpPr/>
          <p:nvPr/>
        </p:nvSpPr>
        <p:spPr>
          <a:xfrm>
            <a:off x="640080" y="1600200"/>
            <a:ext cx="72720" cy="347436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822960" y="1728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Current Situation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822960" y="2167200"/>
            <a:ext cx="3154320" cy="281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Foreign Trade / Import-Export information is collected from branches through Excel files and manual communication. MIS then rearranges and consolidates the data.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0"/>
          <p:cNvSpPr/>
          <p:nvPr/>
        </p:nvSpPr>
        <p:spPr>
          <a:xfrm>
            <a:off x="4370760" y="1600200"/>
            <a:ext cx="347436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1"/>
          <p:cNvSpPr/>
          <p:nvPr/>
        </p:nvSpPr>
        <p:spPr>
          <a:xfrm>
            <a:off x="4370760" y="1600200"/>
            <a:ext cx="72720" cy="347436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4553640" y="1728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Proposed Solution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4553640" y="2167200"/>
            <a:ext cx="3154320" cy="281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A centralized web-based platform where branch users submit standardized daily LC / Bill information and MIS users manage targets, search, filter and generate reports.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4"/>
          <p:cNvSpPr/>
          <p:nvPr/>
        </p:nvSpPr>
        <p:spPr>
          <a:xfrm>
            <a:off x="8101440" y="1600200"/>
            <a:ext cx="347436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15"/>
          <p:cNvSpPr/>
          <p:nvPr/>
        </p:nvSpPr>
        <p:spPr>
          <a:xfrm>
            <a:off x="8101440" y="1600200"/>
            <a:ext cx="72720" cy="347436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6"/>
          <p:cNvSpPr/>
          <p:nvPr/>
        </p:nvSpPr>
        <p:spPr>
          <a:xfrm>
            <a:off x="8284320" y="1728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Expected Result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7"/>
          <p:cNvSpPr/>
          <p:nvPr/>
        </p:nvSpPr>
        <p:spPr>
          <a:xfrm>
            <a:off x="8284320" y="2167200"/>
            <a:ext cx="3154320" cy="281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Less manual processing, standardized submissions, centralized historical data, faster reporting and better visibility of target versus actual performance.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8"/>
          <p:cNvSpPr/>
          <p:nvPr/>
        </p:nvSpPr>
        <p:spPr>
          <a:xfrm>
            <a:off x="1005840" y="5486400"/>
            <a:ext cx="10149480" cy="59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19"/>
          <p:cNvSpPr/>
          <p:nvPr/>
        </p:nvSpPr>
        <p:spPr>
          <a:xfrm>
            <a:off x="1005840" y="5486400"/>
            <a:ext cx="72720" cy="59400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1188720" y="5614560"/>
            <a:ext cx="9829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Core business flow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1"/>
          <p:cNvSpPr/>
          <p:nvPr/>
        </p:nvSpPr>
        <p:spPr>
          <a:xfrm>
            <a:off x="2930400" y="5776649"/>
            <a:ext cx="9829440" cy="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D3741"/>
                </a:solidFill>
                <a:effectLst/>
                <a:uFillTx/>
                <a:latin typeface="Calibri"/>
              </a:rPr>
              <a:t>Annual Target Assign → Branch Data Entry → Centralized Storage → MIS Search / Filter → Report Generation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Problem &amp; Current Process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Problems with the existing Excel-based process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6"/>
          <p:cNvSpPr/>
          <p:nvPr/>
        </p:nvSpPr>
        <p:spPr>
          <a:xfrm>
            <a:off x="640080" y="1554480"/>
            <a:ext cx="525744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640080" y="1554480"/>
            <a:ext cx="72720" cy="169128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822960" y="16826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Manual collection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822960" y="2121480"/>
            <a:ext cx="4937400" cy="10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Branches send information through Excel and manual communication.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10"/>
          <p:cNvSpPr/>
          <p:nvPr/>
        </p:nvSpPr>
        <p:spPr>
          <a:xfrm>
            <a:off x="6217920" y="1554480"/>
            <a:ext cx="525744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11"/>
          <p:cNvSpPr/>
          <p:nvPr/>
        </p:nvSpPr>
        <p:spPr>
          <a:xfrm>
            <a:off x="6217920" y="1554480"/>
            <a:ext cx="72720" cy="1691280"/>
          </a:xfrm>
          <a:prstGeom prst="rect">
            <a:avLst/>
          </a:prstGeom>
          <a:solidFill>
            <a:srgbClr val="D27D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6400800" y="16826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Manual rearrangement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6400800" y="2121480"/>
            <a:ext cx="4937400" cy="10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MIS personnel rearrange and consolidate data for reporting.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4"/>
          <p:cNvSpPr/>
          <p:nvPr/>
        </p:nvSpPr>
        <p:spPr>
          <a:xfrm>
            <a:off x="640080" y="3611880"/>
            <a:ext cx="525744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15"/>
          <p:cNvSpPr/>
          <p:nvPr/>
        </p:nvSpPr>
        <p:spPr>
          <a:xfrm>
            <a:off x="640080" y="3611880"/>
            <a:ext cx="72720" cy="169128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6"/>
          <p:cNvSpPr/>
          <p:nvPr/>
        </p:nvSpPr>
        <p:spPr>
          <a:xfrm>
            <a:off x="822960" y="37400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Historical retrieval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822960" y="4178880"/>
            <a:ext cx="4937400" cy="10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Specific branch, date range or LC records can be difficult to retrieve.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8"/>
          <p:cNvSpPr/>
          <p:nvPr/>
        </p:nvSpPr>
        <p:spPr>
          <a:xfrm>
            <a:off x="6217920" y="3611880"/>
            <a:ext cx="525744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9"/>
          <p:cNvSpPr/>
          <p:nvPr/>
        </p:nvSpPr>
        <p:spPr>
          <a:xfrm>
            <a:off x="6217920" y="3611880"/>
            <a:ext cx="72720" cy="169128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6400800" y="37400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Separate targets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1"/>
          <p:cNvSpPr/>
          <p:nvPr/>
        </p:nvSpPr>
        <p:spPr>
          <a:xfrm>
            <a:off x="6400800" y="4178880"/>
            <a:ext cx="4937400" cy="10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Annual branch-wise targets are maintained separately from daily actual data.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22"/>
          <p:cNvSpPr/>
          <p:nvPr/>
        </p:nvSpPr>
        <p:spPr>
          <a:xfrm>
            <a:off x="1005840" y="5715000"/>
            <a:ext cx="101494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23"/>
          <p:cNvSpPr/>
          <p:nvPr/>
        </p:nvSpPr>
        <p:spPr>
          <a:xfrm>
            <a:off x="1005840" y="5715000"/>
            <a:ext cx="72720" cy="50256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4"/>
          <p:cNvSpPr/>
          <p:nvPr/>
        </p:nvSpPr>
        <p:spPr>
          <a:xfrm>
            <a:off x="1188720" y="5843160"/>
            <a:ext cx="9829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Business impact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5"/>
          <p:cNvSpPr/>
          <p:nvPr/>
        </p:nvSpPr>
        <p:spPr>
          <a:xfrm>
            <a:off x="2880000" y="5948280"/>
            <a:ext cx="98294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D3741"/>
                </a:solidFill>
                <a:effectLst/>
                <a:uFillTx/>
                <a:latin typeface="Calibri"/>
              </a:rPr>
              <a:t>Higher workload • processing delay • inconsistent formats • greater manual-error risk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Objectives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Business and system objectives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6"/>
          <p:cNvSpPr/>
          <p:nvPr/>
        </p:nvSpPr>
        <p:spPr>
          <a:xfrm>
            <a:off x="685800" y="150876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7"/>
          <p:cNvSpPr/>
          <p:nvPr/>
        </p:nvSpPr>
        <p:spPr>
          <a:xfrm>
            <a:off x="685800" y="1508760"/>
            <a:ext cx="72720" cy="448020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868680" y="1636920"/>
            <a:ext cx="4983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Business Objectives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868680" y="2075760"/>
            <a:ext cx="4983120" cy="38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1. Reduce manual Foreign Trade data collection and processing.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2. Standardize branch-level data submission.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3. Improve MIS reporting turnaround time.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4. Centralize Foreign Trade information.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5. Maintain annual branch-wise targets.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6. Improve accuracy and consistency.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7. Improve historical retrieval and reporting efficiency.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0"/>
          <p:cNvSpPr/>
          <p:nvPr/>
        </p:nvSpPr>
        <p:spPr>
          <a:xfrm>
            <a:off x="6172200" y="150876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11"/>
          <p:cNvSpPr/>
          <p:nvPr/>
        </p:nvSpPr>
        <p:spPr>
          <a:xfrm>
            <a:off x="6172200" y="1508760"/>
            <a:ext cx="72720" cy="448020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2"/>
          <p:cNvSpPr/>
          <p:nvPr/>
        </p:nvSpPr>
        <p:spPr>
          <a:xfrm>
            <a:off x="6355080" y="1636920"/>
            <a:ext cx="4983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System Objectives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6355080" y="2075760"/>
            <a:ext cx="4983120" cy="38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1. Centralized web-based data-entry platform.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2. Role-based access for Branch, MIS and Admin users.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3. Excel-based annual target upload.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4. Search, filtering and reporting.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5. Report export functionality.</a:t>
            </a:r>
            <a:br>
              <a:rPr sz="1150"/>
            </a:b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6. Created / updated information for submitted records.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Stakeholders &amp; Role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Role-based responsibilities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6"/>
          <p:cNvSpPr/>
          <p:nvPr/>
        </p:nvSpPr>
        <p:spPr>
          <a:xfrm>
            <a:off x="594360" y="150876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7"/>
          <p:cNvSpPr/>
          <p:nvPr/>
        </p:nvSpPr>
        <p:spPr>
          <a:xfrm>
            <a:off x="594360" y="1508760"/>
            <a:ext cx="72720" cy="182844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777240" y="163692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 User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9"/>
          <p:cNvSpPr/>
          <p:nvPr/>
        </p:nvSpPr>
        <p:spPr>
          <a:xfrm>
            <a:off x="777240" y="2075760"/>
            <a:ext cx="315432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Enter and submit daily LC / Bill information for the assigned branch.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10"/>
          <p:cNvSpPr/>
          <p:nvPr/>
        </p:nvSpPr>
        <p:spPr>
          <a:xfrm>
            <a:off x="4434840" y="150876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1"/>
          <p:cNvSpPr/>
          <p:nvPr/>
        </p:nvSpPr>
        <p:spPr>
          <a:xfrm>
            <a:off x="4434840" y="1508760"/>
            <a:ext cx="72720" cy="182844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2"/>
          <p:cNvSpPr/>
          <p:nvPr/>
        </p:nvSpPr>
        <p:spPr>
          <a:xfrm>
            <a:off x="4617720" y="163692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MIS User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3"/>
          <p:cNvSpPr/>
          <p:nvPr/>
        </p:nvSpPr>
        <p:spPr>
          <a:xfrm>
            <a:off x="4617720" y="2075760"/>
            <a:ext cx="315432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Assign annual targets; view, search, filter and generate Foreign Trade reports.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4"/>
          <p:cNvSpPr/>
          <p:nvPr/>
        </p:nvSpPr>
        <p:spPr>
          <a:xfrm>
            <a:off x="8275320" y="150876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15"/>
          <p:cNvSpPr/>
          <p:nvPr/>
        </p:nvSpPr>
        <p:spPr>
          <a:xfrm>
            <a:off x="8275320" y="1508760"/>
            <a:ext cx="72720" cy="1828440"/>
          </a:xfrm>
          <a:prstGeom prst="rect">
            <a:avLst/>
          </a:prstGeom>
          <a:solidFill>
            <a:srgbClr val="D27D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6"/>
          <p:cNvSpPr/>
          <p:nvPr/>
        </p:nvSpPr>
        <p:spPr>
          <a:xfrm>
            <a:off x="8458200" y="163692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Super Admin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7"/>
          <p:cNvSpPr/>
          <p:nvPr/>
        </p:nvSpPr>
        <p:spPr>
          <a:xfrm>
            <a:off x="8458200" y="2075760"/>
            <a:ext cx="315432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Manage users, branches, roles and permissions.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8"/>
          <p:cNvSpPr/>
          <p:nvPr/>
        </p:nvSpPr>
        <p:spPr>
          <a:xfrm>
            <a:off x="594360" y="379476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19"/>
          <p:cNvSpPr/>
          <p:nvPr/>
        </p:nvSpPr>
        <p:spPr>
          <a:xfrm>
            <a:off x="594360" y="3794760"/>
            <a:ext cx="72720" cy="182844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0"/>
          <p:cNvSpPr/>
          <p:nvPr/>
        </p:nvSpPr>
        <p:spPr>
          <a:xfrm>
            <a:off x="777240" y="392292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MIS Software Team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1"/>
          <p:cNvSpPr/>
          <p:nvPr/>
        </p:nvSpPr>
        <p:spPr>
          <a:xfrm>
            <a:off x="777240" y="4361760"/>
            <a:ext cx="315432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System development, maintenance and technical support.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22"/>
          <p:cNvSpPr/>
          <p:nvPr/>
        </p:nvSpPr>
        <p:spPr>
          <a:xfrm>
            <a:off x="4434840" y="379476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23"/>
          <p:cNvSpPr/>
          <p:nvPr/>
        </p:nvSpPr>
        <p:spPr>
          <a:xfrm>
            <a:off x="4434840" y="3794760"/>
            <a:ext cx="72720" cy="182844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4"/>
          <p:cNvSpPr/>
          <p:nvPr/>
        </p:nvSpPr>
        <p:spPr>
          <a:xfrm>
            <a:off x="4617720" y="392292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Management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5"/>
          <p:cNvSpPr/>
          <p:nvPr/>
        </p:nvSpPr>
        <p:spPr>
          <a:xfrm>
            <a:off x="4617720" y="4361760"/>
            <a:ext cx="315432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Review reports and monitor branch-wise performance.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 Scope &amp; Modules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Main system sections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6"/>
          <p:cNvSpPr/>
          <p:nvPr/>
        </p:nvSpPr>
        <p:spPr>
          <a:xfrm>
            <a:off x="640080" y="1508760"/>
            <a:ext cx="521172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7"/>
          <p:cNvSpPr/>
          <p:nvPr/>
        </p:nvSpPr>
        <p:spPr>
          <a:xfrm>
            <a:off x="640080" y="1508760"/>
            <a:ext cx="72720" cy="123408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822960" y="1636920"/>
            <a:ext cx="4891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Dashboard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822960" y="2075760"/>
            <a:ext cx="48916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Branch-wise target, actual performance, achievement and recent submissions.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0"/>
          <p:cNvSpPr/>
          <p:nvPr/>
        </p:nvSpPr>
        <p:spPr>
          <a:xfrm>
            <a:off x="6217920" y="1508760"/>
            <a:ext cx="521172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11"/>
          <p:cNvSpPr/>
          <p:nvPr/>
        </p:nvSpPr>
        <p:spPr>
          <a:xfrm>
            <a:off x="6217920" y="1508760"/>
            <a:ext cx="72720" cy="123408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2"/>
          <p:cNvSpPr/>
          <p:nvPr/>
        </p:nvSpPr>
        <p:spPr>
          <a:xfrm>
            <a:off x="6400800" y="1636920"/>
            <a:ext cx="4891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Target Management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6400800" y="2075760"/>
            <a:ext cx="48916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Create / upload targets, target year and target history.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14"/>
          <p:cNvSpPr/>
          <p:nvPr/>
        </p:nvSpPr>
        <p:spPr>
          <a:xfrm>
            <a:off x="640080" y="3017520"/>
            <a:ext cx="521172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15"/>
          <p:cNvSpPr/>
          <p:nvPr/>
        </p:nvSpPr>
        <p:spPr>
          <a:xfrm>
            <a:off x="640080" y="3017520"/>
            <a:ext cx="72720" cy="123408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822960" y="3145680"/>
            <a:ext cx="4891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LC / Bill Data Entry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7"/>
          <p:cNvSpPr/>
          <p:nvPr/>
        </p:nvSpPr>
        <p:spPr>
          <a:xfrm>
            <a:off x="822960" y="3584520"/>
            <a:ext cx="48916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Create, view and update submitted entries according to permission.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8"/>
          <p:cNvSpPr/>
          <p:nvPr/>
        </p:nvSpPr>
        <p:spPr>
          <a:xfrm>
            <a:off x="6217920" y="3017520"/>
            <a:ext cx="521172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19"/>
          <p:cNvSpPr/>
          <p:nvPr/>
        </p:nvSpPr>
        <p:spPr>
          <a:xfrm>
            <a:off x="6217920" y="3017520"/>
            <a:ext cx="72720" cy="1234080"/>
          </a:xfrm>
          <a:prstGeom prst="rect">
            <a:avLst/>
          </a:prstGeom>
          <a:solidFill>
            <a:srgbClr val="D27D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6400800" y="3145680"/>
            <a:ext cx="4891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Reports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6400800" y="3584520"/>
            <a:ext cx="48916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Daily, branch-wise, date-range, LC-wise, Bill-wise and Target vs Actual.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22"/>
          <p:cNvSpPr/>
          <p:nvPr/>
        </p:nvSpPr>
        <p:spPr>
          <a:xfrm>
            <a:off x="640080" y="4526280"/>
            <a:ext cx="521172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23"/>
          <p:cNvSpPr/>
          <p:nvPr/>
        </p:nvSpPr>
        <p:spPr>
          <a:xfrm>
            <a:off x="640080" y="4526280"/>
            <a:ext cx="72720" cy="1234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24"/>
          <p:cNvSpPr/>
          <p:nvPr/>
        </p:nvSpPr>
        <p:spPr>
          <a:xfrm>
            <a:off x="822960" y="4654440"/>
            <a:ext cx="4891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Administration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5"/>
          <p:cNvSpPr/>
          <p:nvPr/>
        </p:nvSpPr>
        <p:spPr>
          <a:xfrm>
            <a:off x="822960" y="5093280"/>
            <a:ext cx="48916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User, branch, role and permission management.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Captured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Standardized information captured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6"/>
          <p:cNvSpPr/>
          <p:nvPr/>
        </p:nvSpPr>
        <p:spPr>
          <a:xfrm>
            <a:off x="594360" y="1508760"/>
            <a:ext cx="342864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7"/>
          <p:cNvSpPr/>
          <p:nvPr/>
        </p:nvSpPr>
        <p:spPr>
          <a:xfrm>
            <a:off x="594360" y="1508760"/>
            <a:ext cx="72720" cy="196560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777240" y="1636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LC Information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777240" y="2075760"/>
            <a:ext cx="310860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LC Number • LC Amount • Currency • BDT Equivalent • Local/Foreign LC • LC Type • LC Date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10"/>
          <p:cNvSpPr/>
          <p:nvPr/>
        </p:nvSpPr>
        <p:spPr>
          <a:xfrm>
            <a:off x="4389120" y="1508760"/>
            <a:ext cx="342864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11"/>
          <p:cNvSpPr/>
          <p:nvPr/>
        </p:nvSpPr>
        <p:spPr>
          <a:xfrm>
            <a:off x="4389120" y="1508760"/>
            <a:ext cx="72720" cy="196560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2"/>
          <p:cNvSpPr/>
          <p:nvPr/>
        </p:nvSpPr>
        <p:spPr>
          <a:xfrm>
            <a:off x="4572000" y="1636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 Information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3"/>
          <p:cNvSpPr/>
          <p:nvPr/>
        </p:nvSpPr>
        <p:spPr>
          <a:xfrm>
            <a:off x="4572000" y="2075760"/>
            <a:ext cx="310860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Branch Name • Branch Code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14"/>
          <p:cNvSpPr/>
          <p:nvPr/>
        </p:nvSpPr>
        <p:spPr>
          <a:xfrm>
            <a:off x="8183880" y="1508760"/>
            <a:ext cx="342864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15"/>
          <p:cNvSpPr/>
          <p:nvPr/>
        </p:nvSpPr>
        <p:spPr>
          <a:xfrm>
            <a:off x="8183880" y="1508760"/>
            <a:ext cx="72720" cy="196560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6"/>
          <p:cNvSpPr/>
          <p:nvPr/>
        </p:nvSpPr>
        <p:spPr>
          <a:xfrm>
            <a:off x="8366760" y="1636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Customer Information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7"/>
          <p:cNvSpPr/>
          <p:nvPr/>
        </p:nvSpPr>
        <p:spPr>
          <a:xfrm>
            <a:off x="8366760" y="2075760"/>
            <a:ext cx="310860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Customer Name • Customer Account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8"/>
          <p:cNvSpPr/>
          <p:nvPr/>
        </p:nvSpPr>
        <p:spPr>
          <a:xfrm>
            <a:off x="594360" y="3840480"/>
            <a:ext cx="342864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19"/>
          <p:cNvSpPr/>
          <p:nvPr/>
        </p:nvSpPr>
        <p:spPr>
          <a:xfrm>
            <a:off x="594360" y="3840480"/>
            <a:ext cx="72720" cy="1965600"/>
          </a:xfrm>
          <a:prstGeom prst="rect">
            <a:avLst/>
          </a:prstGeom>
          <a:solidFill>
            <a:srgbClr val="D27D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20"/>
          <p:cNvSpPr/>
          <p:nvPr/>
        </p:nvSpPr>
        <p:spPr>
          <a:xfrm>
            <a:off x="777240" y="39686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Bill Information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1"/>
          <p:cNvSpPr/>
          <p:nvPr/>
        </p:nvSpPr>
        <p:spPr>
          <a:xfrm>
            <a:off x="777240" y="4407480"/>
            <a:ext cx="310860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Bill Number • Bill Amount • Bill Currency • Bill Date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22"/>
          <p:cNvSpPr/>
          <p:nvPr/>
        </p:nvSpPr>
        <p:spPr>
          <a:xfrm>
            <a:off x="4389120" y="3840480"/>
            <a:ext cx="342864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23"/>
          <p:cNvSpPr/>
          <p:nvPr/>
        </p:nvSpPr>
        <p:spPr>
          <a:xfrm>
            <a:off x="4389120" y="3840480"/>
            <a:ext cx="72720" cy="196560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24"/>
          <p:cNvSpPr/>
          <p:nvPr/>
        </p:nvSpPr>
        <p:spPr>
          <a:xfrm>
            <a:off x="4572000" y="39686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System / Target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5"/>
          <p:cNvSpPr/>
          <p:nvPr/>
        </p:nvSpPr>
        <p:spPr>
          <a:xfrm>
            <a:off x="4572000" y="4407480"/>
            <a:ext cx="310860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Created / Updated information • Branch • Year • Target Amount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Future-State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To-Be process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6"/>
          <p:cNvSpPr/>
          <p:nvPr/>
        </p:nvSpPr>
        <p:spPr>
          <a:xfrm>
            <a:off x="320040" y="2057400"/>
            <a:ext cx="1170000" cy="1096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9050">
            <a:solidFill>
              <a:srgbClr val="275F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Annual Target</a:t>
            </a:r>
            <a:br>
              <a:rPr sz="1100"/>
            </a:b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Excel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6" name="Connector 7"/>
          <p:cNvCxnSpPr/>
          <p:nvPr/>
        </p:nvCxnSpPr>
        <p:spPr>
          <a:xfrm>
            <a:off x="1490400" y="2606040"/>
            <a:ext cx="183240" cy="3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207" name="Rounded Rectangle 8"/>
          <p:cNvSpPr/>
          <p:nvPr/>
        </p:nvSpPr>
        <p:spPr>
          <a:xfrm>
            <a:off x="1673280" y="2057400"/>
            <a:ext cx="1170000" cy="1096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9050">
            <a:solidFill>
              <a:srgbClr val="275F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Upload &amp;</a:t>
            </a:r>
            <a:br>
              <a:rPr sz="1100"/>
            </a:b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Validation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8" name="Connector 9"/>
          <p:cNvCxnSpPr/>
          <p:nvPr/>
        </p:nvCxnSpPr>
        <p:spPr>
          <a:xfrm>
            <a:off x="2843640" y="2606040"/>
            <a:ext cx="183240" cy="3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209" name="Rounded Rectangle 10"/>
          <p:cNvSpPr/>
          <p:nvPr/>
        </p:nvSpPr>
        <p:spPr>
          <a:xfrm>
            <a:off x="3026520" y="2057400"/>
            <a:ext cx="1170000" cy="1096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9050">
            <a:solidFill>
              <a:srgbClr val="275F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Branch-wise</a:t>
            </a:r>
            <a:br>
              <a:rPr sz="1100"/>
            </a:b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Target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0" name="Connector 11"/>
          <p:cNvCxnSpPr/>
          <p:nvPr/>
        </p:nvCxnSpPr>
        <p:spPr>
          <a:xfrm>
            <a:off x="4196880" y="2606040"/>
            <a:ext cx="183240" cy="3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211" name="Rounded Rectangle 12"/>
          <p:cNvSpPr/>
          <p:nvPr/>
        </p:nvSpPr>
        <p:spPr>
          <a:xfrm>
            <a:off x="4380120" y="2057400"/>
            <a:ext cx="1170000" cy="1096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9050">
            <a:solidFill>
              <a:srgbClr val="275F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 User</a:t>
            </a:r>
            <a:br>
              <a:rPr sz="1100"/>
            </a:b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Daily Entry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2" name="Connector 13"/>
          <p:cNvCxnSpPr/>
          <p:nvPr/>
        </p:nvCxnSpPr>
        <p:spPr>
          <a:xfrm>
            <a:off x="5550120" y="2606040"/>
            <a:ext cx="183240" cy="3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213" name="Rounded Rectangle 14"/>
          <p:cNvSpPr/>
          <p:nvPr/>
        </p:nvSpPr>
        <p:spPr>
          <a:xfrm>
            <a:off x="5733360" y="2057400"/>
            <a:ext cx="1170000" cy="1096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9050">
            <a:solidFill>
              <a:srgbClr val="275F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Validation &amp;</a:t>
            </a:r>
            <a:br>
              <a:rPr sz="1100"/>
            </a:b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Submission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4" name="Connector 15"/>
          <p:cNvCxnSpPr/>
          <p:nvPr/>
        </p:nvCxnSpPr>
        <p:spPr>
          <a:xfrm>
            <a:off x="6903720" y="2606040"/>
            <a:ext cx="183240" cy="3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215" name="Rounded Rectangle 16"/>
          <p:cNvSpPr/>
          <p:nvPr/>
        </p:nvSpPr>
        <p:spPr>
          <a:xfrm>
            <a:off x="7086600" y="2057400"/>
            <a:ext cx="1170000" cy="1096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9050">
            <a:solidFill>
              <a:srgbClr val="00798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Centralized</a:t>
            </a:r>
            <a:br>
              <a:rPr sz="1100"/>
            </a:b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Database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6" name="Connector 17"/>
          <p:cNvCxnSpPr/>
          <p:nvPr/>
        </p:nvCxnSpPr>
        <p:spPr>
          <a:xfrm>
            <a:off x="8256960" y="2606040"/>
            <a:ext cx="183240" cy="3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217" name="Rounded Rectangle 18"/>
          <p:cNvSpPr/>
          <p:nvPr/>
        </p:nvSpPr>
        <p:spPr>
          <a:xfrm>
            <a:off x="8439840" y="2057400"/>
            <a:ext cx="1170000" cy="1096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9050">
            <a:solidFill>
              <a:srgbClr val="275F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MIS Search /</a:t>
            </a:r>
            <a:br>
              <a:rPr sz="1100"/>
            </a:b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Filter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8" name="Connector 19"/>
          <p:cNvCxnSpPr/>
          <p:nvPr/>
        </p:nvCxnSpPr>
        <p:spPr>
          <a:xfrm>
            <a:off x="9610200" y="2606040"/>
            <a:ext cx="183240" cy="3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219" name="Rounded Rectangle 20"/>
          <p:cNvSpPr/>
          <p:nvPr/>
        </p:nvSpPr>
        <p:spPr>
          <a:xfrm>
            <a:off x="9793080" y="2057400"/>
            <a:ext cx="1170000" cy="1096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9050">
            <a:solidFill>
              <a:srgbClr val="275F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Report</a:t>
            </a:r>
            <a:br>
              <a:rPr sz="1100"/>
            </a:b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Generation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Connector 21"/>
          <p:cNvCxnSpPr/>
          <p:nvPr/>
        </p:nvCxnSpPr>
        <p:spPr>
          <a:xfrm>
            <a:off x="10963440" y="2606040"/>
            <a:ext cx="183240" cy="3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221" name="Rounded Rectangle 22"/>
          <p:cNvSpPr/>
          <p:nvPr/>
        </p:nvSpPr>
        <p:spPr>
          <a:xfrm>
            <a:off x="11146680" y="2057400"/>
            <a:ext cx="1170000" cy="1096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9050">
            <a:solidFill>
              <a:srgbClr val="275F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View /</a:t>
            </a:r>
            <a:br>
              <a:rPr sz="1100"/>
            </a:br>
            <a:r>
              <a:rPr lang="en-US" sz="11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Export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23"/>
          <p:cNvSpPr/>
          <p:nvPr/>
        </p:nvSpPr>
        <p:spPr>
          <a:xfrm>
            <a:off x="914400" y="3886200"/>
            <a:ext cx="32000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24"/>
          <p:cNvSpPr/>
          <p:nvPr/>
        </p:nvSpPr>
        <p:spPr>
          <a:xfrm>
            <a:off x="914400" y="3886200"/>
            <a:ext cx="72720" cy="114264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25"/>
          <p:cNvSpPr/>
          <p:nvPr/>
        </p:nvSpPr>
        <p:spPr>
          <a:xfrm>
            <a:off x="1097280" y="401436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 Side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6"/>
          <p:cNvSpPr/>
          <p:nvPr/>
        </p:nvSpPr>
        <p:spPr>
          <a:xfrm>
            <a:off x="1097280" y="4453200"/>
            <a:ext cx="288000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Enter standardized LC / Bill information and submit.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27"/>
          <p:cNvSpPr/>
          <p:nvPr/>
        </p:nvSpPr>
        <p:spPr>
          <a:xfrm>
            <a:off x="4480560" y="3886200"/>
            <a:ext cx="32000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ectangle 28"/>
          <p:cNvSpPr/>
          <p:nvPr/>
        </p:nvSpPr>
        <p:spPr>
          <a:xfrm>
            <a:off x="4480560" y="3886200"/>
            <a:ext cx="72720" cy="114264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29"/>
          <p:cNvSpPr/>
          <p:nvPr/>
        </p:nvSpPr>
        <p:spPr>
          <a:xfrm>
            <a:off x="4663440" y="401436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System Side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0"/>
          <p:cNvSpPr/>
          <p:nvPr/>
        </p:nvSpPr>
        <p:spPr>
          <a:xfrm>
            <a:off x="4663440" y="4453200"/>
            <a:ext cx="288000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Validate and store data centrally with audit information.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31"/>
          <p:cNvSpPr/>
          <p:nvPr/>
        </p:nvSpPr>
        <p:spPr>
          <a:xfrm>
            <a:off x="8046720" y="3886200"/>
            <a:ext cx="32000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32"/>
          <p:cNvSpPr/>
          <p:nvPr/>
        </p:nvSpPr>
        <p:spPr>
          <a:xfrm>
            <a:off x="8046720" y="3886200"/>
            <a:ext cx="72720" cy="114264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33"/>
          <p:cNvSpPr/>
          <p:nvPr/>
        </p:nvSpPr>
        <p:spPr>
          <a:xfrm>
            <a:off x="8229600" y="401436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MIS Side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4"/>
          <p:cNvSpPr/>
          <p:nvPr/>
        </p:nvSpPr>
        <p:spPr>
          <a:xfrm>
            <a:off x="8229600" y="4453200"/>
            <a:ext cx="288000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Search, filter, generate reports and export to Excel.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Functional Requirements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Key requirements translated into system functions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6"/>
          <p:cNvSpPr/>
          <p:nvPr/>
        </p:nvSpPr>
        <p:spPr>
          <a:xfrm>
            <a:off x="594360" y="1417320"/>
            <a:ext cx="53488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Rectangle 7"/>
          <p:cNvSpPr/>
          <p:nvPr/>
        </p:nvSpPr>
        <p:spPr>
          <a:xfrm>
            <a:off x="594360" y="1417320"/>
            <a:ext cx="72720" cy="95976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8"/>
          <p:cNvSpPr/>
          <p:nvPr/>
        </p:nvSpPr>
        <p:spPr>
          <a:xfrm>
            <a:off x="777240" y="1545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Access Control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777240" y="1984320"/>
            <a:ext cx="5028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Secure login and role-based access.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10"/>
          <p:cNvSpPr/>
          <p:nvPr/>
        </p:nvSpPr>
        <p:spPr>
          <a:xfrm>
            <a:off x="6263640" y="1417320"/>
            <a:ext cx="53488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Rectangle 11"/>
          <p:cNvSpPr/>
          <p:nvPr/>
        </p:nvSpPr>
        <p:spPr>
          <a:xfrm>
            <a:off x="6263640" y="1417320"/>
            <a:ext cx="72720" cy="95976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6446520" y="1545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 Assignment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3"/>
          <p:cNvSpPr/>
          <p:nvPr/>
        </p:nvSpPr>
        <p:spPr>
          <a:xfrm>
            <a:off x="6446520" y="1984320"/>
            <a:ext cx="5028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Branch users are assigned to their respective branches.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14"/>
          <p:cNvSpPr/>
          <p:nvPr/>
        </p:nvSpPr>
        <p:spPr>
          <a:xfrm>
            <a:off x="594360" y="2587680"/>
            <a:ext cx="53488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ectangle 15"/>
          <p:cNvSpPr/>
          <p:nvPr/>
        </p:nvSpPr>
        <p:spPr>
          <a:xfrm>
            <a:off x="594360" y="2587680"/>
            <a:ext cx="72720" cy="95976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6"/>
          <p:cNvSpPr/>
          <p:nvPr/>
        </p:nvSpPr>
        <p:spPr>
          <a:xfrm>
            <a:off x="777240" y="27158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Target Upload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7"/>
          <p:cNvSpPr/>
          <p:nvPr/>
        </p:nvSpPr>
        <p:spPr>
          <a:xfrm>
            <a:off x="777240" y="3154680"/>
            <a:ext cx="5028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Authorized users upload and validate annual branch-wise targets.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18"/>
          <p:cNvSpPr/>
          <p:nvPr/>
        </p:nvSpPr>
        <p:spPr>
          <a:xfrm>
            <a:off x="6263640" y="2587680"/>
            <a:ext cx="53488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19"/>
          <p:cNvSpPr/>
          <p:nvPr/>
        </p:nvSpPr>
        <p:spPr>
          <a:xfrm>
            <a:off x="6263640" y="2587680"/>
            <a:ext cx="72720" cy="959760"/>
          </a:xfrm>
          <a:prstGeom prst="rect">
            <a:avLst/>
          </a:prstGeom>
          <a:solidFill>
            <a:srgbClr val="D27D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20"/>
          <p:cNvSpPr/>
          <p:nvPr/>
        </p:nvSpPr>
        <p:spPr>
          <a:xfrm>
            <a:off x="6446520" y="27158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Data Entry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1"/>
          <p:cNvSpPr/>
          <p:nvPr/>
        </p:nvSpPr>
        <p:spPr>
          <a:xfrm>
            <a:off x="6446520" y="3154680"/>
            <a:ext cx="5028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Branch users enter LC and Bill information through standardized forms.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22"/>
          <p:cNvSpPr/>
          <p:nvPr/>
        </p:nvSpPr>
        <p:spPr>
          <a:xfrm>
            <a:off x="594360" y="3758040"/>
            <a:ext cx="53488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ectangle 23"/>
          <p:cNvSpPr/>
          <p:nvPr/>
        </p:nvSpPr>
        <p:spPr>
          <a:xfrm>
            <a:off x="594360" y="3758040"/>
            <a:ext cx="72720" cy="95976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24"/>
          <p:cNvSpPr/>
          <p:nvPr/>
        </p:nvSpPr>
        <p:spPr>
          <a:xfrm>
            <a:off x="777240" y="38862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Validation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25"/>
          <p:cNvSpPr/>
          <p:nvPr/>
        </p:nvSpPr>
        <p:spPr>
          <a:xfrm>
            <a:off x="777240" y="4325040"/>
            <a:ext cx="5028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Mandatory fields are checked before submission.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26"/>
          <p:cNvSpPr/>
          <p:nvPr/>
        </p:nvSpPr>
        <p:spPr>
          <a:xfrm>
            <a:off x="6263640" y="3758040"/>
            <a:ext cx="53488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27"/>
          <p:cNvSpPr/>
          <p:nvPr/>
        </p:nvSpPr>
        <p:spPr>
          <a:xfrm>
            <a:off x="6263640" y="3758040"/>
            <a:ext cx="72720" cy="95976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28"/>
          <p:cNvSpPr/>
          <p:nvPr/>
        </p:nvSpPr>
        <p:spPr>
          <a:xfrm>
            <a:off x="6446520" y="38862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Central Storage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29"/>
          <p:cNvSpPr/>
          <p:nvPr/>
        </p:nvSpPr>
        <p:spPr>
          <a:xfrm>
            <a:off x="6446520" y="4325040"/>
            <a:ext cx="5028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Submitted information is stored centrally.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30"/>
          <p:cNvSpPr/>
          <p:nvPr/>
        </p:nvSpPr>
        <p:spPr>
          <a:xfrm>
            <a:off x="594360" y="4928760"/>
            <a:ext cx="53488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Rectangle 31"/>
          <p:cNvSpPr/>
          <p:nvPr/>
        </p:nvSpPr>
        <p:spPr>
          <a:xfrm>
            <a:off x="594360" y="4928760"/>
            <a:ext cx="72720" cy="95976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32"/>
          <p:cNvSpPr/>
          <p:nvPr/>
        </p:nvSpPr>
        <p:spPr>
          <a:xfrm>
            <a:off x="777240" y="50565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Search &amp; Reporting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33"/>
          <p:cNvSpPr/>
          <p:nvPr/>
        </p:nvSpPr>
        <p:spPr>
          <a:xfrm>
            <a:off x="777240" y="5495400"/>
            <a:ext cx="5028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Date-wise, date-range, branch-wise and report generation.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34"/>
          <p:cNvSpPr/>
          <p:nvPr/>
        </p:nvSpPr>
        <p:spPr>
          <a:xfrm>
            <a:off x="6263640" y="4928760"/>
            <a:ext cx="53488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ectangle 35"/>
          <p:cNvSpPr/>
          <p:nvPr/>
        </p:nvSpPr>
        <p:spPr>
          <a:xfrm>
            <a:off x="6263640" y="4928760"/>
            <a:ext cx="72720" cy="95976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36"/>
          <p:cNvSpPr/>
          <p:nvPr/>
        </p:nvSpPr>
        <p:spPr>
          <a:xfrm>
            <a:off x="6446520" y="50565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Export &amp; Audit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37"/>
          <p:cNvSpPr/>
          <p:nvPr/>
        </p:nvSpPr>
        <p:spPr>
          <a:xfrm>
            <a:off x="6446520" y="5495400"/>
            <a:ext cx="5028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Excel export plus created/updated and audit information.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Reporting &amp; MIS 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Reporting is the main business outcome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6"/>
          <p:cNvSpPr/>
          <p:nvPr/>
        </p:nvSpPr>
        <p:spPr>
          <a:xfrm>
            <a:off x="594360" y="1508760"/>
            <a:ext cx="34286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ectangle 7"/>
          <p:cNvSpPr/>
          <p:nvPr/>
        </p:nvSpPr>
        <p:spPr>
          <a:xfrm>
            <a:off x="594360" y="1508760"/>
            <a:ext cx="72720" cy="173700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8"/>
          <p:cNvSpPr/>
          <p:nvPr/>
        </p:nvSpPr>
        <p:spPr>
          <a:xfrm>
            <a:off x="777240" y="1636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Daily Report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9"/>
          <p:cNvSpPr/>
          <p:nvPr/>
        </p:nvSpPr>
        <p:spPr>
          <a:xfrm>
            <a:off x="777240" y="2075760"/>
            <a:ext cx="310860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Daily submitted LC / Bill information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0"/>
          <p:cNvSpPr/>
          <p:nvPr/>
        </p:nvSpPr>
        <p:spPr>
          <a:xfrm>
            <a:off x="4389120" y="1508760"/>
            <a:ext cx="34286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Rectangle 11"/>
          <p:cNvSpPr/>
          <p:nvPr/>
        </p:nvSpPr>
        <p:spPr>
          <a:xfrm>
            <a:off x="4389120" y="1508760"/>
            <a:ext cx="72720" cy="173700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12"/>
          <p:cNvSpPr/>
          <p:nvPr/>
        </p:nvSpPr>
        <p:spPr>
          <a:xfrm>
            <a:off x="4572000" y="1636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Branch-wise Report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3"/>
          <p:cNvSpPr/>
          <p:nvPr/>
        </p:nvSpPr>
        <p:spPr>
          <a:xfrm>
            <a:off x="4572000" y="2075760"/>
            <a:ext cx="310860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Records and performance by branch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14"/>
          <p:cNvSpPr/>
          <p:nvPr/>
        </p:nvSpPr>
        <p:spPr>
          <a:xfrm>
            <a:off x="8183880" y="1508760"/>
            <a:ext cx="34286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Rectangle 15"/>
          <p:cNvSpPr/>
          <p:nvPr/>
        </p:nvSpPr>
        <p:spPr>
          <a:xfrm>
            <a:off x="8183880" y="1508760"/>
            <a:ext cx="72720" cy="173700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6"/>
          <p:cNvSpPr/>
          <p:nvPr/>
        </p:nvSpPr>
        <p:spPr>
          <a:xfrm>
            <a:off x="8366760" y="1636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Date-range Report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7"/>
          <p:cNvSpPr/>
          <p:nvPr/>
        </p:nvSpPr>
        <p:spPr>
          <a:xfrm>
            <a:off x="8366760" y="2075760"/>
            <a:ext cx="310860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Information for a selected period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18"/>
          <p:cNvSpPr/>
          <p:nvPr/>
        </p:nvSpPr>
        <p:spPr>
          <a:xfrm>
            <a:off x="594360" y="3611880"/>
            <a:ext cx="34286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ectangle 19"/>
          <p:cNvSpPr/>
          <p:nvPr/>
        </p:nvSpPr>
        <p:spPr>
          <a:xfrm>
            <a:off x="594360" y="3611880"/>
            <a:ext cx="72720" cy="1737000"/>
          </a:xfrm>
          <a:prstGeom prst="rect">
            <a:avLst/>
          </a:prstGeom>
          <a:solidFill>
            <a:srgbClr val="D27D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0"/>
          <p:cNvSpPr/>
          <p:nvPr/>
        </p:nvSpPr>
        <p:spPr>
          <a:xfrm>
            <a:off x="777240" y="37400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LC / Bill-wise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1"/>
          <p:cNvSpPr/>
          <p:nvPr/>
        </p:nvSpPr>
        <p:spPr>
          <a:xfrm>
            <a:off x="777240" y="4178880"/>
            <a:ext cx="310860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Focused reporting by LC or Bill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22"/>
          <p:cNvSpPr/>
          <p:nvPr/>
        </p:nvSpPr>
        <p:spPr>
          <a:xfrm>
            <a:off x="4389120" y="3611880"/>
            <a:ext cx="34286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Rectangle 23"/>
          <p:cNvSpPr/>
          <p:nvPr/>
        </p:nvSpPr>
        <p:spPr>
          <a:xfrm>
            <a:off x="4389120" y="3611880"/>
            <a:ext cx="72720" cy="173700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24"/>
          <p:cNvSpPr/>
          <p:nvPr/>
        </p:nvSpPr>
        <p:spPr>
          <a:xfrm>
            <a:off x="4572000" y="37400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Target vs Actual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5"/>
          <p:cNvSpPr/>
          <p:nvPr/>
        </p:nvSpPr>
        <p:spPr>
          <a:xfrm>
            <a:off x="4572000" y="4178880"/>
            <a:ext cx="310860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Compare assigned targets with actual performance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26"/>
          <p:cNvSpPr/>
          <p:nvPr/>
        </p:nvSpPr>
        <p:spPr>
          <a:xfrm>
            <a:off x="8183880" y="3611880"/>
            <a:ext cx="34286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27"/>
          <p:cNvSpPr/>
          <p:nvPr/>
        </p:nvSpPr>
        <p:spPr>
          <a:xfrm>
            <a:off x="8183880" y="3611880"/>
            <a:ext cx="72720" cy="173700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28"/>
          <p:cNvSpPr/>
          <p:nvPr/>
        </p:nvSpPr>
        <p:spPr>
          <a:xfrm>
            <a:off x="8366760" y="37400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Excel Export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29"/>
          <p:cNvSpPr/>
          <p:nvPr/>
        </p:nvSpPr>
        <p:spPr>
          <a:xfrm>
            <a:off x="8366760" y="4178880"/>
            <a:ext cx="310860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Authorized MIS users export report data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30"/>
          <p:cNvSpPr/>
          <p:nvPr/>
        </p:nvSpPr>
        <p:spPr>
          <a:xfrm>
            <a:off x="1188720" y="5715000"/>
            <a:ext cx="978372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Rectangle 31"/>
          <p:cNvSpPr/>
          <p:nvPr/>
        </p:nvSpPr>
        <p:spPr>
          <a:xfrm>
            <a:off x="1188720" y="5715000"/>
            <a:ext cx="72720" cy="50256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32"/>
          <p:cNvSpPr/>
          <p:nvPr/>
        </p:nvSpPr>
        <p:spPr>
          <a:xfrm>
            <a:off x="1371600" y="5843160"/>
            <a:ext cx="9463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MIS value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33"/>
          <p:cNvSpPr/>
          <p:nvPr/>
        </p:nvSpPr>
        <p:spPr>
          <a:xfrm>
            <a:off x="2697480" y="5980320"/>
            <a:ext cx="94636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D3741"/>
                </a:solidFill>
                <a:effectLst/>
                <a:uFillTx/>
                <a:latin typeface="Calibri"/>
              </a:rPr>
              <a:t>One centralized source for faster search, consistent reporting and historical retrieval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Proposed System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High-level architecture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6"/>
          <p:cNvSpPr/>
          <p:nvPr/>
        </p:nvSpPr>
        <p:spPr>
          <a:xfrm>
            <a:off x="1097280" y="1508760"/>
            <a:ext cx="9966600" cy="80424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25400">
            <a:solidFill>
              <a:srgbClr val="275F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Presentation Layer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Branch Portal • MIS Dashboard • Admin Screens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0" name="Connector 7"/>
          <p:cNvCxnSpPr/>
          <p:nvPr/>
        </p:nvCxnSpPr>
        <p:spPr>
          <a:xfrm>
            <a:off x="6080760" y="2313360"/>
            <a:ext cx="360" cy="24732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311" name="Rounded Rectangle 8"/>
          <p:cNvSpPr/>
          <p:nvPr/>
        </p:nvSpPr>
        <p:spPr>
          <a:xfrm>
            <a:off x="1097280" y="2606040"/>
            <a:ext cx="9966600" cy="80424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25400">
            <a:solidFill>
              <a:srgbClr val="00798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Application Layer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Authentication • Role / Permission • Form Processing • Validation • Reporting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2" name="Connector 9"/>
          <p:cNvCxnSpPr/>
          <p:nvPr/>
        </p:nvCxnSpPr>
        <p:spPr>
          <a:xfrm>
            <a:off x="6080760" y="3410640"/>
            <a:ext cx="360" cy="2469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313" name="Rounded Rectangle 10"/>
          <p:cNvSpPr/>
          <p:nvPr/>
        </p:nvSpPr>
        <p:spPr>
          <a:xfrm>
            <a:off x="1097280" y="3703320"/>
            <a:ext cx="9966600" cy="80424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25400">
            <a:solidFill>
              <a:srgbClr val="2D7D5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Data Layer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Foreign Trade Data • Branch Data • Target Data • Audit Information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4" name="Connector 11"/>
          <p:cNvCxnSpPr/>
          <p:nvPr/>
        </p:nvCxnSpPr>
        <p:spPr>
          <a:xfrm>
            <a:off x="6080760" y="4507920"/>
            <a:ext cx="360" cy="246960"/>
          </a:xfrm>
          <a:prstGeom prst="straightConnector1">
            <a:avLst/>
          </a:prstGeom>
          <a:ln>
            <a:solidFill>
              <a:srgbClr val="275F91"/>
            </a:solidFill>
            <a:round/>
          </a:ln>
        </p:spPr>
      </p:cxnSp>
      <p:sp>
        <p:nvSpPr>
          <p:cNvPr id="315" name="Rounded Rectangle 12"/>
          <p:cNvSpPr/>
          <p:nvPr/>
        </p:nvSpPr>
        <p:spPr>
          <a:xfrm>
            <a:off x="1097280" y="4800600"/>
            <a:ext cx="9966600" cy="80424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25400">
            <a:solidFill>
              <a:srgbClr val="D27D2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Reporting / Export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Daily / Date-range / Branch / LC / Bill / Target-vs-Actual • Excel Export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Security, Control &amp; Data Governance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Controls around the business process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ounded Rectangle 6"/>
          <p:cNvSpPr/>
          <p:nvPr/>
        </p:nvSpPr>
        <p:spPr>
          <a:xfrm>
            <a:off x="594360" y="1508760"/>
            <a:ext cx="3428640" cy="178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ectangle 7"/>
          <p:cNvSpPr/>
          <p:nvPr/>
        </p:nvSpPr>
        <p:spPr>
          <a:xfrm>
            <a:off x="594360" y="1508760"/>
            <a:ext cx="72720" cy="178272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8"/>
          <p:cNvSpPr/>
          <p:nvPr/>
        </p:nvSpPr>
        <p:spPr>
          <a:xfrm>
            <a:off x="777240" y="1636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Role-based access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9"/>
          <p:cNvSpPr/>
          <p:nvPr/>
        </p:nvSpPr>
        <p:spPr>
          <a:xfrm>
            <a:off x="777240" y="2075760"/>
            <a:ext cx="3108600" cy="11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Branch, MIS and Admin users receive permissions according to responsibility.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ounded Rectangle 10"/>
          <p:cNvSpPr/>
          <p:nvPr/>
        </p:nvSpPr>
        <p:spPr>
          <a:xfrm>
            <a:off x="4389120" y="1508760"/>
            <a:ext cx="3428640" cy="178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Rectangle 11"/>
          <p:cNvSpPr/>
          <p:nvPr/>
        </p:nvSpPr>
        <p:spPr>
          <a:xfrm>
            <a:off x="4389120" y="1508760"/>
            <a:ext cx="72720" cy="178272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12"/>
          <p:cNvSpPr/>
          <p:nvPr/>
        </p:nvSpPr>
        <p:spPr>
          <a:xfrm>
            <a:off x="4572000" y="1636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 restriction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3"/>
          <p:cNvSpPr/>
          <p:nvPr/>
        </p:nvSpPr>
        <p:spPr>
          <a:xfrm>
            <a:off x="4572000" y="2075760"/>
            <a:ext cx="3108600" cy="11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Branch Users are assigned to their respective branches.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ounded Rectangle 14"/>
          <p:cNvSpPr/>
          <p:nvPr/>
        </p:nvSpPr>
        <p:spPr>
          <a:xfrm>
            <a:off x="8183880" y="1508760"/>
            <a:ext cx="3428640" cy="178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ectangle 15"/>
          <p:cNvSpPr/>
          <p:nvPr/>
        </p:nvSpPr>
        <p:spPr>
          <a:xfrm>
            <a:off x="8183880" y="1508760"/>
            <a:ext cx="72720" cy="178272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16"/>
          <p:cNvSpPr/>
          <p:nvPr/>
        </p:nvSpPr>
        <p:spPr>
          <a:xfrm>
            <a:off x="8366760" y="16369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Input validation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17"/>
          <p:cNvSpPr/>
          <p:nvPr/>
        </p:nvSpPr>
        <p:spPr>
          <a:xfrm>
            <a:off x="8366760" y="2075760"/>
            <a:ext cx="3108600" cy="11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Mandatory fields and target uploads are validated before storage.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18"/>
          <p:cNvSpPr/>
          <p:nvPr/>
        </p:nvSpPr>
        <p:spPr>
          <a:xfrm>
            <a:off x="594360" y="3657600"/>
            <a:ext cx="3428640" cy="178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Rectangle 19"/>
          <p:cNvSpPr/>
          <p:nvPr/>
        </p:nvSpPr>
        <p:spPr>
          <a:xfrm>
            <a:off x="594360" y="3657600"/>
            <a:ext cx="72720" cy="1782720"/>
          </a:xfrm>
          <a:prstGeom prst="rect">
            <a:avLst/>
          </a:prstGeom>
          <a:solidFill>
            <a:srgbClr val="D27D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20"/>
          <p:cNvSpPr/>
          <p:nvPr/>
        </p:nvSpPr>
        <p:spPr>
          <a:xfrm>
            <a:off x="777240" y="37857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Audit information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21"/>
          <p:cNvSpPr/>
          <p:nvPr/>
        </p:nvSpPr>
        <p:spPr>
          <a:xfrm>
            <a:off x="777240" y="4224600"/>
            <a:ext cx="3108600" cy="11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Created / Updated information is maintained for submitted records.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ounded Rectangle 22"/>
          <p:cNvSpPr/>
          <p:nvPr/>
        </p:nvSpPr>
        <p:spPr>
          <a:xfrm>
            <a:off x="4389120" y="3657600"/>
            <a:ext cx="3428640" cy="178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ectangle 23"/>
          <p:cNvSpPr/>
          <p:nvPr/>
        </p:nvSpPr>
        <p:spPr>
          <a:xfrm>
            <a:off x="4389120" y="3657600"/>
            <a:ext cx="72720" cy="178272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24"/>
          <p:cNvSpPr/>
          <p:nvPr/>
        </p:nvSpPr>
        <p:spPr>
          <a:xfrm>
            <a:off x="4572000" y="37857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Permission-based update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25"/>
          <p:cNvSpPr/>
          <p:nvPr/>
        </p:nvSpPr>
        <p:spPr>
          <a:xfrm>
            <a:off x="4572000" y="4224600"/>
            <a:ext cx="3108600" cy="11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Record updates are controlled according to user permission.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ounded Rectangle 26"/>
          <p:cNvSpPr/>
          <p:nvPr/>
        </p:nvSpPr>
        <p:spPr>
          <a:xfrm>
            <a:off x="8183880" y="3657600"/>
            <a:ext cx="3428640" cy="178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Rectangle 27"/>
          <p:cNvSpPr/>
          <p:nvPr/>
        </p:nvSpPr>
        <p:spPr>
          <a:xfrm>
            <a:off x="8183880" y="3657600"/>
            <a:ext cx="72720" cy="178272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28"/>
          <p:cNvSpPr/>
          <p:nvPr/>
        </p:nvSpPr>
        <p:spPr>
          <a:xfrm>
            <a:off x="8366760" y="37857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Audit activities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29"/>
          <p:cNvSpPr/>
          <p:nvPr/>
        </p:nvSpPr>
        <p:spPr>
          <a:xfrm>
            <a:off x="8366760" y="4224600"/>
            <a:ext cx="3108600" cy="11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Relevant system activities maintain appropriate audit information.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Success Criteria &amp; Benefits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How success will be measured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6"/>
          <p:cNvSpPr/>
          <p:nvPr/>
        </p:nvSpPr>
        <p:spPr>
          <a:xfrm>
            <a:off x="914400" y="13532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Manual Data Processing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ounded Rectangle 7"/>
          <p:cNvSpPr/>
          <p:nvPr/>
        </p:nvSpPr>
        <p:spPr>
          <a:xfrm>
            <a:off x="4114800" y="1353240"/>
            <a:ext cx="6766200" cy="365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98C"/>
                </a:solidFill>
                <a:effectLst/>
                <a:uFillTx/>
                <a:latin typeface="Calibri"/>
              </a:rPr>
              <a:t>Significantly reduced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8"/>
          <p:cNvSpPr/>
          <p:nvPr/>
        </p:nvSpPr>
        <p:spPr>
          <a:xfrm>
            <a:off x="914400" y="19659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Report Preparation 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ounded Rectangle 9"/>
          <p:cNvSpPr/>
          <p:nvPr/>
        </p:nvSpPr>
        <p:spPr>
          <a:xfrm>
            <a:off x="4114800" y="1965960"/>
            <a:ext cx="6766200" cy="365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98C"/>
                </a:solidFill>
                <a:effectLst/>
                <a:uFillTx/>
                <a:latin typeface="Calibri"/>
              </a:rPr>
              <a:t>Significantly reduced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0"/>
          <p:cNvSpPr/>
          <p:nvPr/>
        </p:nvSpPr>
        <p:spPr>
          <a:xfrm>
            <a:off x="914400" y="25786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 Data Standardization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11"/>
          <p:cNvSpPr/>
          <p:nvPr/>
        </p:nvSpPr>
        <p:spPr>
          <a:xfrm>
            <a:off x="4114800" y="2578680"/>
            <a:ext cx="6766200" cy="365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98C"/>
                </a:solidFill>
                <a:effectLst/>
                <a:uFillTx/>
                <a:latin typeface="Calibri"/>
              </a:rPr>
              <a:t>100% through standardized form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2"/>
          <p:cNvSpPr/>
          <p:nvPr/>
        </p:nvSpPr>
        <p:spPr>
          <a:xfrm>
            <a:off x="914400" y="31914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Historical Data Retrieval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13"/>
          <p:cNvSpPr/>
          <p:nvPr/>
        </p:nvSpPr>
        <p:spPr>
          <a:xfrm>
            <a:off x="4114800" y="3191400"/>
            <a:ext cx="6766200" cy="365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98C"/>
                </a:solidFill>
                <a:effectLst/>
                <a:uFillTx/>
                <a:latin typeface="Calibri"/>
              </a:rPr>
              <a:t>Available through search and filters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4"/>
          <p:cNvSpPr/>
          <p:nvPr/>
        </p:nvSpPr>
        <p:spPr>
          <a:xfrm>
            <a:off x="914400" y="38037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Annual Target Management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15"/>
          <p:cNvSpPr/>
          <p:nvPr/>
        </p:nvSpPr>
        <p:spPr>
          <a:xfrm>
            <a:off x="4114800" y="3803760"/>
            <a:ext cx="6766200" cy="365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98C"/>
                </a:solidFill>
                <a:effectLst/>
                <a:uFillTx/>
                <a:latin typeface="Calibri"/>
              </a:rPr>
              <a:t>Available branch-wise in the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16"/>
          <p:cNvSpPr/>
          <p:nvPr/>
        </p:nvSpPr>
        <p:spPr>
          <a:xfrm>
            <a:off x="914400" y="44164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Report Export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ounded Rectangle 17"/>
          <p:cNvSpPr/>
          <p:nvPr/>
        </p:nvSpPr>
        <p:spPr>
          <a:xfrm>
            <a:off x="4114800" y="4416480"/>
            <a:ext cx="6766200" cy="365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98C"/>
                </a:solidFill>
                <a:effectLst/>
                <a:uFillTx/>
                <a:latin typeface="Calibri"/>
              </a:rPr>
              <a:t>Available for authorized MIS users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8"/>
          <p:cNvSpPr/>
          <p:nvPr/>
        </p:nvSpPr>
        <p:spPr>
          <a:xfrm>
            <a:off x="914400" y="5029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Branch Data Access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ounded Rectangle 19"/>
          <p:cNvSpPr/>
          <p:nvPr/>
        </p:nvSpPr>
        <p:spPr>
          <a:xfrm>
            <a:off x="4114800" y="5029200"/>
            <a:ext cx="6766200" cy="365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98C"/>
                </a:solidFill>
                <a:effectLst/>
                <a:uFillTx/>
                <a:latin typeface="Calibri"/>
              </a:rPr>
              <a:t>Restricted according to role and branch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20"/>
          <p:cNvSpPr/>
          <p:nvPr/>
        </p:nvSpPr>
        <p:spPr>
          <a:xfrm>
            <a:off x="914400" y="5806440"/>
            <a:ext cx="1033236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Rectangle 21"/>
          <p:cNvSpPr/>
          <p:nvPr/>
        </p:nvSpPr>
        <p:spPr>
          <a:xfrm>
            <a:off x="914400" y="5806440"/>
            <a:ext cx="72720" cy="45684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Box 22"/>
          <p:cNvSpPr/>
          <p:nvPr/>
        </p:nvSpPr>
        <p:spPr>
          <a:xfrm>
            <a:off x="1097280" y="5934600"/>
            <a:ext cx="10012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Overall benefit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23"/>
          <p:cNvSpPr/>
          <p:nvPr/>
        </p:nvSpPr>
        <p:spPr>
          <a:xfrm>
            <a:off x="2819842" y="6034860"/>
            <a:ext cx="10012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D3741"/>
                </a:solidFill>
                <a:effectLst/>
                <a:uFillTx/>
                <a:latin typeface="Calibri"/>
              </a:rPr>
              <a:t>Faster collection • lower manual workload • better consistency • easier reporting • improved target monitoring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3"/>
          <p:cNvSpPr/>
          <p:nvPr/>
        </p:nvSpPr>
        <p:spPr>
          <a:xfrm>
            <a:off x="502920" y="1188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Items to Confirm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4"/>
          <p:cNvSpPr/>
          <p:nvPr/>
        </p:nvSpPr>
        <p:spPr>
          <a:xfrm>
            <a:off x="11018520" y="164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DDCEB"/>
                </a:solidFill>
                <a:effectLst/>
                <a:uFillTx/>
                <a:latin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5"/>
          <p:cNvSpPr/>
          <p:nvPr/>
        </p:nvSpPr>
        <p:spPr>
          <a:xfrm>
            <a:off x="594360" y="9327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Business rules requiring final confirmation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6"/>
          <p:cNvSpPr/>
          <p:nvPr/>
        </p:nvSpPr>
        <p:spPr>
          <a:xfrm>
            <a:off x="914400" y="1463040"/>
            <a:ext cx="102409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Final list of LC and Bill fields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Final LC Type and Local / Foreign LC rules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Currency and BDT conversion rules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Target definition and achievement calculation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Duplicate record handling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Data editing and deletion rules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Approval requirements, if any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Final report formats and required filters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User roles and permissions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Excel target upload and report export formats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• Data retention requirements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ounded Rectangle 7"/>
          <p:cNvSpPr/>
          <p:nvPr/>
        </p:nvSpPr>
        <p:spPr>
          <a:xfrm>
            <a:off x="914400" y="5806440"/>
            <a:ext cx="1014948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ectangle 8"/>
          <p:cNvSpPr/>
          <p:nvPr/>
        </p:nvSpPr>
        <p:spPr>
          <a:xfrm>
            <a:off x="914400" y="5806440"/>
            <a:ext cx="72720" cy="456840"/>
          </a:xfrm>
          <a:prstGeom prst="rect">
            <a:avLst/>
          </a:prstGeom>
          <a:solidFill>
            <a:srgbClr val="D27D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9"/>
          <p:cNvSpPr/>
          <p:nvPr/>
        </p:nvSpPr>
        <p:spPr>
          <a:xfrm>
            <a:off x="1097280" y="5934600"/>
            <a:ext cx="9829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Important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0"/>
          <p:cNvSpPr/>
          <p:nvPr/>
        </p:nvSpPr>
        <p:spPr>
          <a:xfrm>
            <a:off x="2769309" y="6022383"/>
            <a:ext cx="9829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D3741"/>
                </a:solidFill>
                <a:effectLst/>
                <a:uFillTx/>
                <a:latin typeface="Calibri"/>
              </a:rPr>
              <a:t>These are business-rule decisions to be finalized before production rollout.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D2B968-AE2A-C267-906B-13F81094A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459104" cy="3193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E944F6-66F8-BB64-8E09-570AC4B8C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681" y="0"/>
            <a:ext cx="3539319" cy="29384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5D9987-D89A-3DD2-2A6C-13124ED06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576" y="-1"/>
            <a:ext cx="2902423" cy="2938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C858B4-CE9B-22E2-A2A2-D817D51BBA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64426"/>
            <a:ext cx="5459104" cy="2954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5CB1FA-AEE1-B300-9153-C2FA499CA5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681" y="3664426"/>
            <a:ext cx="3416489" cy="29547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FDB18E-1013-96E1-9ECF-2EFB32C35E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3664424"/>
            <a:ext cx="3048000" cy="295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81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B4C72B-0563-4079-D90E-8C859EDFF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60694" cy="2692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46F590-87DA-693F-E896-BBD17627B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113" y="0"/>
            <a:ext cx="3960445" cy="26922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AEFFB0-A955-B46F-2D07-C87669322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977" y="0"/>
            <a:ext cx="3512024" cy="25860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B504BC-05AB-706F-4E85-3FF171F8A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4" y="3429000"/>
            <a:ext cx="4638861" cy="3154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20F012-E17B-D0D7-C25B-14DF6CD58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353" y="3429000"/>
            <a:ext cx="3960446" cy="32672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D28C12-4239-9162-0A6D-AC454CADE3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425" y="3429000"/>
            <a:ext cx="3252201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62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370691-BC90-34DE-4B63-E1CC18309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35648" cy="3016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B21C99-42B9-ED02-707E-2F3166FF4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4897"/>
            <a:ext cx="5158854" cy="31731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47FA7-D042-93B7-AA31-4C6703861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752" y="3684897"/>
            <a:ext cx="6473588" cy="3173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6BDD8D-5EA9-1640-8CC4-B6AACDF5A6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669" y="0"/>
            <a:ext cx="6350758" cy="1610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0B0060-6FB1-E460-71F4-7BAC06301B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669" y="1508078"/>
            <a:ext cx="6350758" cy="192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06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B71B94-F5D2-9ADE-CD01-82BC67167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25" y="0"/>
            <a:ext cx="4271964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90E17B-C2A1-65F1-00F0-6C5F281F1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6963"/>
            <a:ext cx="3995226" cy="3021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44A629-86D9-82F9-D989-99694AFBCD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161" y="1041009"/>
            <a:ext cx="5886450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84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B1FABA-AE66-B098-2550-9D6D930F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345"/>
            <a:ext cx="5317588" cy="3232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ED0A8E-F2D5-DF86-C304-61CA7CAB3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821" y="-39345"/>
            <a:ext cx="6119445" cy="3468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4E797B-0C88-43B2-5B9C-AF399EF6F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54548"/>
            <a:ext cx="5570806" cy="30034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D47FDC-63A2-091A-6143-6840EF048E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658" y="3854548"/>
            <a:ext cx="6119445" cy="331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49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BC2E59-1365-E0C3-7842-6BC0EE082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66" y="1636835"/>
            <a:ext cx="5247249" cy="4714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DD7B6D-434D-D99A-B694-ED2F7BB78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0" y="1636835"/>
            <a:ext cx="6087647" cy="452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36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2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2"/>
          <p:cNvSpPr/>
          <p:nvPr/>
        </p:nvSpPr>
        <p:spPr>
          <a:xfrm>
            <a:off x="822960" y="914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3"/>
          <p:cNvSpPr/>
          <p:nvPr/>
        </p:nvSpPr>
        <p:spPr>
          <a:xfrm>
            <a:off x="822960" y="1828800"/>
            <a:ext cx="1033236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DCE8F2"/>
                </a:solidFill>
                <a:effectLst/>
                <a:uFillTx/>
                <a:latin typeface="Calibri"/>
              </a:rPr>
              <a:t>The system transforms the existing Excel-dependent process into a centralized, standardized digital workflow.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Annual Target Assign  →  Branch Data Entry  →  Centralized Storage  →  MIS Search / Filter  →  Report Generation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ounded Rectangle 4"/>
          <p:cNvSpPr/>
          <p:nvPr/>
        </p:nvSpPr>
        <p:spPr>
          <a:xfrm>
            <a:off x="822960" y="4251960"/>
            <a:ext cx="32457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ectangle 5"/>
          <p:cNvSpPr/>
          <p:nvPr/>
        </p:nvSpPr>
        <p:spPr>
          <a:xfrm>
            <a:off x="822960" y="4251960"/>
            <a:ext cx="72720" cy="1234080"/>
          </a:xfrm>
          <a:prstGeom prst="rect">
            <a:avLst/>
          </a:prstGeom>
          <a:solidFill>
            <a:srgbClr val="275F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6"/>
          <p:cNvSpPr/>
          <p:nvPr/>
        </p:nvSpPr>
        <p:spPr>
          <a:xfrm>
            <a:off x="1005840" y="43801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Efficiency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7"/>
          <p:cNvSpPr/>
          <p:nvPr/>
        </p:nvSpPr>
        <p:spPr>
          <a:xfrm>
            <a:off x="1005840" y="4818960"/>
            <a:ext cx="2925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Reduce manual collection and rearrangement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ounded Rectangle 8"/>
          <p:cNvSpPr/>
          <p:nvPr/>
        </p:nvSpPr>
        <p:spPr>
          <a:xfrm>
            <a:off x="4526280" y="4251960"/>
            <a:ext cx="32457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Rectangle 9"/>
          <p:cNvSpPr/>
          <p:nvPr/>
        </p:nvSpPr>
        <p:spPr>
          <a:xfrm>
            <a:off x="4526280" y="4251960"/>
            <a:ext cx="72720" cy="1234080"/>
          </a:xfrm>
          <a:prstGeom prst="rect">
            <a:avLst/>
          </a:prstGeom>
          <a:solidFill>
            <a:srgbClr val="00798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10"/>
          <p:cNvSpPr/>
          <p:nvPr/>
        </p:nvSpPr>
        <p:spPr>
          <a:xfrm>
            <a:off x="4709160" y="43801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Control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1"/>
          <p:cNvSpPr/>
          <p:nvPr/>
        </p:nvSpPr>
        <p:spPr>
          <a:xfrm>
            <a:off x="4709160" y="4818960"/>
            <a:ext cx="2925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Standardize access, validation and audit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ounded Rectangle 12"/>
          <p:cNvSpPr/>
          <p:nvPr/>
        </p:nvSpPr>
        <p:spPr>
          <a:xfrm>
            <a:off x="8229600" y="4251960"/>
            <a:ext cx="32457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ectangle 13"/>
          <p:cNvSpPr/>
          <p:nvPr/>
        </p:nvSpPr>
        <p:spPr>
          <a:xfrm>
            <a:off x="8229600" y="4251960"/>
            <a:ext cx="72720" cy="1234080"/>
          </a:xfrm>
          <a:prstGeom prst="rect">
            <a:avLst/>
          </a:prstGeom>
          <a:solidFill>
            <a:srgbClr val="2D7D5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14"/>
          <p:cNvSpPr/>
          <p:nvPr/>
        </p:nvSpPr>
        <p:spPr>
          <a:xfrm>
            <a:off x="8412480" y="43801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D4E"/>
                </a:solidFill>
                <a:effectLst/>
                <a:uFillTx/>
                <a:latin typeface="Calibri"/>
              </a:rPr>
              <a:t>Reporting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15"/>
          <p:cNvSpPr/>
          <p:nvPr/>
        </p:nvSpPr>
        <p:spPr>
          <a:xfrm>
            <a:off x="8412480" y="4818960"/>
            <a:ext cx="2925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D3741"/>
                </a:solidFill>
                <a:effectLst/>
                <a:uFillTx/>
                <a:latin typeface="Calibri"/>
              </a:rPr>
              <a:t>Faster search, reporting and Excel export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1154</Words>
  <Application>Microsoft Office PowerPoint</Application>
  <PresentationFormat>Widescreen</PresentationFormat>
  <Paragraphs>196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4</cp:revision>
  <dcterms:modified xsi:type="dcterms:W3CDTF">2026-08-20T02:00:12Z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